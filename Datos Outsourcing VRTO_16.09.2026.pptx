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"/>
  </p:notesMasterIdLst>
  <p:sldIdLst>
    <p:sldId id="285" r:id="rId2"/>
    <p:sldId id="297" r:id="rId3"/>
    <p:sldId id="299" r:id="rId4"/>
    <p:sldId id="289" r:id="rId5"/>
  </p:sldIdLst>
  <p:sldSz cx="12192000" cy="6858000"/>
  <p:notesSz cx="6858000" cy="9144000"/>
  <p:defaultTextStyle>
    <a:defPPr>
      <a:defRPr lang="es-H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E9FF"/>
    <a:srgbClr val="F2F2F2"/>
    <a:srgbClr val="0058CB"/>
    <a:srgbClr val="D9EDF4"/>
    <a:srgbClr val="003B70"/>
    <a:srgbClr val="EDE7C4"/>
    <a:srgbClr val="FD7668"/>
    <a:srgbClr val="9BC405"/>
    <a:srgbClr val="00AEE3"/>
    <a:srgbClr val="F2F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959" autoAdjust="0"/>
    <p:restoredTop sz="90028" autoAdjust="0"/>
  </p:normalViewPr>
  <p:slideViewPr>
    <p:cSldViewPr snapToGrid="0">
      <p:cViewPr varScale="1">
        <p:scale>
          <a:sx n="67" d="100"/>
          <a:sy n="67" d="100"/>
        </p:scale>
        <p:origin x="2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HN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816255-7016-4C45-A9AE-AA5748A1DC80}" type="datetimeFigureOut">
              <a:rPr lang="es-HN" smtClean="0"/>
              <a:t>17/9/2026</a:t>
            </a:fld>
            <a:endParaRPr lang="es-HN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HN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HN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9E969-E6F5-4940-9C45-88CDB7D49700}" type="slidenum">
              <a:rPr lang="es-HN" smtClean="0"/>
              <a:t>‹Nº›</a:t>
            </a:fld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2936841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19E969-E6F5-4940-9C45-88CDB7D49700}" type="slidenum">
              <a:rPr lang="es-HN" smtClean="0"/>
              <a:t>2</a:t>
            </a:fld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1750456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B3121-03DE-9689-2366-264A70014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50E71-05EE-4A67-4EC1-B7293CC50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8A61C-7F5E-8311-F766-2DCB6A094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5002A-C5FC-B81D-93C3-EA4A82C71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19E969-E6F5-4940-9C45-88CDB7D49700}" type="slidenum">
              <a:rPr kumimoji="0" lang="es-H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H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779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19E969-E6F5-4940-9C45-88CDB7D49700}" type="slidenum">
              <a:rPr lang="es-HN" smtClean="0"/>
              <a:t>4</a:t>
            </a:fld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2392674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51FA0-56AF-B9B2-47A0-7E22C0919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DDA9C8-3CBB-D402-E236-59501194D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97E93A-A86F-72CF-145F-633CF7612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3E97-780F-4126-B008-6688C3E2F678}" type="datetimeFigureOut">
              <a:rPr lang="es-HN" smtClean="0"/>
              <a:t>17/9/2026</a:t>
            </a:fld>
            <a:endParaRPr lang="es-HN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14715E-D376-1F0E-DDEC-1CB37F7A8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862E48-B820-F520-1BF6-7C413203F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CAE0-B678-40C4-AE37-2F840C63DE2A}" type="slidenum">
              <a:rPr lang="es-HN" smtClean="0"/>
              <a:t>‹Nº›</a:t>
            </a:fld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168377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7304D-A7A9-1586-8790-5AA001514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8C3661-D77E-CA6C-77E8-E4EEBE387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424C07-0F51-5760-FDCA-99462E860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3E97-780F-4126-B008-6688C3E2F678}" type="datetimeFigureOut">
              <a:rPr lang="es-HN" smtClean="0"/>
              <a:t>17/9/2026</a:t>
            </a:fld>
            <a:endParaRPr lang="es-HN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CA924B-B1BA-E4BC-BBC2-54154EEB4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7C0B9A-F27E-DC92-FA30-D1010DF94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CAE0-B678-40C4-AE37-2F840C63DE2A}" type="slidenum">
              <a:rPr lang="es-HN" smtClean="0"/>
              <a:t>‹Nº›</a:t>
            </a:fld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3138050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A2EB0-3244-1BA7-DC64-CF59BD265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807F77-D862-A0DE-CB60-45C171187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7ED898-6043-E57D-3904-D09AA3698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3E97-780F-4126-B008-6688C3E2F678}" type="datetimeFigureOut">
              <a:rPr lang="es-HN" smtClean="0"/>
              <a:t>17/9/2026</a:t>
            </a:fld>
            <a:endParaRPr lang="es-HN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BA9619-9D22-685C-B650-A093FDE18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4FAC6C-C700-34CE-5718-8E20E331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CAE0-B678-40C4-AE37-2F840C63DE2A}" type="slidenum">
              <a:rPr lang="es-HN" smtClean="0"/>
              <a:t>‹Nº›</a:t>
            </a:fld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363822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ACC09-860C-62C4-CA46-41262232E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586A73-5462-3F47-F4F3-4FD383085B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CE04DFA-EB4F-B8C8-CEF4-3290123CF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1F2C3B-8A87-9DB6-ECA4-C30BF7579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3E97-780F-4126-B008-6688C3E2F678}" type="datetimeFigureOut">
              <a:rPr lang="es-HN" smtClean="0"/>
              <a:t>17/9/2026</a:t>
            </a:fld>
            <a:endParaRPr lang="es-HN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68165C-C09A-65AA-D44A-5AE6765AB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859EC0-3FF2-0F09-9AD3-FA19754D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CAE0-B678-40C4-AE37-2F840C63DE2A}" type="slidenum">
              <a:rPr lang="es-HN" smtClean="0"/>
              <a:t>‹Nº›</a:t>
            </a:fld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2280073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3227A-7083-0DC8-8A23-0C7EF9DB9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26CDD9-3DC2-2373-0DC9-27E72129F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4F06B9-B72D-F907-7BCD-F04CD5952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37722F7-2A4A-7AF5-33A3-137CA21032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B057D0D-6218-35B1-9C1E-9673BE2EF7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6471F5C-3A91-F5C5-B7CB-52FD6EF56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3E97-780F-4126-B008-6688C3E2F678}" type="datetimeFigureOut">
              <a:rPr lang="es-HN" smtClean="0"/>
              <a:t>17/9/2026</a:t>
            </a:fld>
            <a:endParaRPr lang="es-HN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96347B5-165F-5E3B-C1C8-A0F4912A7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23D7EA6-F6B9-0558-D311-AAB3220F7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CAE0-B678-40C4-AE37-2F840C63DE2A}" type="slidenum">
              <a:rPr lang="es-HN" smtClean="0"/>
              <a:t>‹Nº›</a:t>
            </a:fld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1590067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D07024-4CE7-89EF-341B-0793FE2A5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B1103C-4AD6-6DD5-24B9-AB65114B2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3E97-780F-4126-B008-6688C3E2F678}" type="datetimeFigureOut">
              <a:rPr lang="es-HN" smtClean="0"/>
              <a:t>17/9/2026</a:t>
            </a:fld>
            <a:endParaRPr lang="es-HN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DB96FFE-4910-6BB0-63A5-4AA161B2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0E604B-726D-5712-BEC3-D25D326AA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CAE0-B678-40C4-AE37-2F840C63DE2A}" type="slidenum">
              <a:rPr lang="es-HN" smtClean="0"/>
              <a:t>‹Nº›</a:t>
            </a:fld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1949754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78A3F6F-6122-276F-CED7-9AA0E606D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3E97-780F-4126-B008-6688C3E2F678}" type="datetimeFigureOut">
              <a:rPr lang="es-HN" smtClean="0"/>
              <a:t>17/9/2026</a:t>
            </a:fld>
            <a:endParaRPr lang="es-HN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EB6B293-68A3-5FDD-58AE-B22A5CD3D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EF2906-2FA1-BE20-9A7F-F21AA8CB0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CAE0-B678-40C4-AE37-2F840C63DE2A}" type="slidenum">
              <a:rPr lang="es-HN" smtClean="0"/>
              <a:t>‹Nº›</a:t>
            </a:fld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3487043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CB17A9-EF15-550D-7A63-035AF7BDB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2A546B-B8CB-2AF0-53F5-FCD347ECC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23D3C06-7441-AD8C-423D-49F9C4FD6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0816C8-A54B-386C-193B-FBBC60140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3E97-780F-4126-B008-6688C3E2F678}" type="datetimeFigureOut">
              <a:rPr lang="es-HN" smtClean="0"/>
              <a:t>17/9/2026</a:t>
            </a:fld>
            <a:endParaRPr lang="es-HN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A3F81B-7CFC-D5C3-6877-2F5A128DF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B4D1BF-1AFB-F97E-B550-ED8CB7C8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CAE0-B678-40C4-AE37-2F840C63DE2A}" type="slidenum">
              <a:rPr lang="es-HN" smtClean="0"/>
              <a:t>‹Nº›</a:t>
            </a:fld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28009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3A18D-F2CC-7A5B-9E06-37BFC1C2B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FF0A1C2-1841-7920-085B-B9D6E50C65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HN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0EC677-37C5-4911-DC69-3CBB7A93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EF953B-E09C-DE45-85F9-724946E1C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3E97-780F-4126-B008-6688C3E2F678}" type="datetimeFigureOut">
              <a:rPr lang="es-HN" smtClean="0"/>
              <a:t>17/9/2026</a:t>
            </a:fld>
            <a:endParaRPr lang="es-HN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EA522D-152E-5026-FF81-0232EFAAC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0F9052-A868-0AF6-F2CD-2DC49722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CAE0-B678-40C4-AE37-2F840C63DE2A}" type="slidenum">
              <a:rPr lang="es-HN" smtClean="0"/>
              <a:t>‹Nº›</a:t>
            </a:fld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246890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43C95-5A75-18F1-C933-A609DBDCD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CE481EA-B076-48E0-3FE0-530013B09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06C77A-9297-9389-0D87-5B959C27D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3E97-780F-4126-B008-6688C3E2F678}" type="datetimeFigureOut">
              <a:rPr lang="es-HN" smtClean="0"/>
              <a:t>17/9/2026</a:t>
            </a:fld>
            <a:endParaRPr lang="es-HN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E7B39C-12AD-838F-FDC9-6E140DE50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2ED669-AA6E-CEB9-56FC-498C34FD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CAE0-B678-40C4-AE37-2F840C63DE2A}" type="slidenum">
              <a:rPr lang="es-HN" smtClean="0"/>
              <a:t>‹Nº›</a:t>
            </a:fld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4278014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A742CC-B8FD-A50E-E597-A851957526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53387D-1A1C-115A-F0EB-90B78E7D7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4005E6-D01E-03D9-0EE8-BB915F43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3E97-780F-4126-B008-6688C3E2F678}" type="datetimeFigureOut">
              <a:rPr lang="es-HN" smtClean="0"/>
              <a:t>17/9/2026</a:t>
            </a:fld>
            <a:endParaRPr lang="es-HN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473509-131B-7D24-ECA1-9208E1AC7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336A1B-6A13-372C-DDB9-FB5336D2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CAE0-B678-40C4-AE37-2F840C63DE2A}" type="slidenum">
              <a:rPr lang="es-HN" smtClean="0"/>
              <a:t>‹Nº›</a:t>
            </a:fld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1273087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1C81DA-51C7-DF94-A410-A6E1CBBCD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570436-1036-3DC9-37D5-B26D2976D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4F193B-C0FE-6427-7AFE-0D5EDDCBE4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03E97-780F-4126-B008-6688C3E2F678}" type="datetimeFigureOut">
              <a:rPr lang="es-HN" smtClean="0"/>
              <a:t>17/9/2026</a:t>
            </a:fld>
            <a:endParaRPr lang="es-HN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8FA662-277B-6A34-D4A2-D810D7C1F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HN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BACF47-BF59-FDC4-D509-D414C4DD8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6ECAE0-B678-40C4-AE37-2F840C63DE2A}" type="slidenum">
              <a:rPr lang="es-HN" smtClean="0"/>
              <a:t>‹Nº›</a:t>
            </a:fld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211368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H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BA52D-9782-2809-1EF5-887AC0CF9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787" y="2802189"/>
            <a:ext cx="9690337" cy="1018056"/>
          </a:xfrm>
        </p:spPr>
        <p:txBody>
          <a:bodyPr>
            <a:noAutofit/>
          </a:bodyPr>
          <a:lstStyle/>
          <a:p>
            <a:r>
              <a:rPr lang="es-MX" sz="3800" b="1" dirty="0">
                <a:solidFill>
                  <a:srgbClr val="0058CB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Personal Outsourcing VRTO- NEMS (TH) </a:t>
            </a:r>
            <a:endParaRPr lang="en-HN" sz="3800" b="1" dirty="0">
              <a:solidFill>
                <a:srgbClr val="0058CB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36CB523-FB02-1A08-7CBD-2D61228927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5067" y="934348"/>
            <a:ext cx="4583876" cy="104253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2A06FA5-63A8-B343-24F7-C2CAEB8A762F}"/>
              </a:ext>
            </a:extLst>
          </p:cNvPr>
          <p:cNvSpPr txBox="1">
            <a:spLocks/>
          </p:cNvSpPr>
          <p:nvPr/>
        </p:nvSpPr>
        <p:spPr>
          <a:xfrm>
            <a:off x="1215788" y="3529992"/>
            <a:ext cx="8461611" cy="1018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500" dirty="0">
                <a:solidFill>
                  <a:srgbClr val="003B7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Septiembre 2026</a:t>
            </a:r>
            <a:endParaRPr lang="en-HN" sz="35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457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50F127-4456-0374-07E3-A33736980E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4338" y="414338"/>
            <a:ext cx="11344275" cy="1000125"/>
          </a:xfrm>
          <a:prstGeom prst="rect">
            <a:avLst/>
          </a:prstGeom>
          <a:solidFill>
            <a:srgbClr val="0058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48587A2-1E53-8C26-4CCC-4A946C94B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459" y="405372"/>
            <a:ext cx="8853891" cy="1018056"/>
          </a:xfrm>
        </p:spPr>
        <p:txBody>
          <a:bodyPr>
            <a:noAutofit/>
          </a:bodyPr>
          <a:lstStyle/>
          <a:p>
            <a:r>
              <a:rPr lang="es-MX" sz="2800" b="1" dirty="0">
                <a:solidFill>
                  <a:schemeClr val="bg1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Personal Outsourcing VRTO – NEMS (TH)</a:t>
            </a:r>
            <a:endParaRPr lang="en-HN" sz="2800" b="1" dirty="0">
              <a:solidFill>
                <a:schemeClr val="bg1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AA6F73-DF6E-4C6B-B871-45CE5814A28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46215" y="6181724"/>
            <a:ext cx="1612397" cy="36671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59B228D-5D73-F86D-BF4A-42F7EC2DA365}"/>
              </a:ext>
            </a:extLst>
          </p:cNvPr>
          <p:cNvSpPr txBox="1">
            <a:spLocks/>
          </p:cNvSpPr>
          <p:nvPr/>
        </p:nvSpPr>
        <p:spPr>
          <a:xfrm>
            <a:off x="4538070" y="1478276"/>
            <a:ext cx="783145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3B7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633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17DCF59-3B65-47FB-C98D-22AF1A6A5527}"/>
              </a:ext>
            </a:extLst>
          </p:cNvPr>
          <p:cNvSpPr txBox="1">
            <a:spLocks/>
          </p:cNvSpPr>
          <p:nvPr/>
        </p:nvSpPr>
        <p:spPr>
          <a:xfrm>
            <a:off x="392431" y="1425709"/>
            <a:ext cx="4231364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MX" sz="2000" b="1" dirty="0">
                <a:solidFill>
                  <a:srgbClr val="0058CB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Total Personal Tercerizado VRTO:</a:t>
            </a:r>
            <a:endParaRPr lang="en-HN" sz="2000" b="1" dirty="0">
              <a:solidFill>
                <a:srgbClr val="0058CB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2CEC459-5DDF-5742-A237-7AC6349805B3}"/>
              </a:ext>
            </a:extLst>
          </p:cNvPr>
          <p:cNvSpPr txBox="1">
            <a:spLocks/>
          </p:cNvSpPr>
          <p:nvPr/>
        </p:nvSpPr>
        <p:spPr>
          <a:xfrm>
            <a:off x="9781985" y="1479886"/>
            <a:ext cx="2152840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24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3B7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$2,188,654.22</a:t>
            </a:r>
          </a:p>
          <a:p>
            <a:pPr>
              <a:lnSpc>
                <a:spcPct val="100000"/>
              </a:lnSpc>
            </a:pPr>
            <a:endParaRPr lang="en-HN" sz="24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439163B-2533-EE60-8674-A8324DFE65F1}"/>
              </a:ext>
            </a:extLst>
          </p:cNvPr>
          <p:cNvSpPr txBox="1">
            <a:spLocks/>
          </p:cNvSpPr>
          <p:nvPr/>
        </p:nvSpPr>
        <p:spPr>
          <a:xfrm>
            <a:off x="5664162" y="1425709"/>
            <a:ext cx="4231364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MX" sz="2000" b="1" dirty="0">
                <a:solidFill>
                  <a:srgbClr val="0058CB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Costo Total Personal Tercerizado:</a:t>
            </a:r>
            <a:endParaRPr lang="en-HN" sz="2000" b="1" dirty="0">
              <a:solidFill>
                <a:srgbClr val="0058CB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3569853-0A49-555A-5FAE-C737A4754EF8}"/>
              </a:ext>
            </a:extLst>
          </p:cNvPr>
          <p:cNvSpPr txBox="1">
            <a:spLocks/>
          </p:cNvSpPr>
          <p:nvPr/>
        </p:nvSpPr>
        <p:spPr>
          <a:xfrm>
            <a:off x="2369906" y="3810380"/>
            <a:ext cx="783145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endParaRPr lang="en-US" sz="20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03B7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62</a:t>
            </a:r>
          </a:p>
          <a:p>
            <a:pPr algn="ctr">
              <a:lnSpc>
                <a:spcPct val="100000"/>
              </a:lnSpc>
            </a:pPr>
            <a:endParaRPr lang="en-HN" sz="20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45A3CB0-788A-E487-8357-D74D1FC5DB9D}"/>
              </a:ext>
            </a:extLst>
          </p:cNvPr>
          <p:cNvSpPr txBox="1">
            <a:spLocks/>
          </p:cNvSpPr>
          <p:nvPr/>
        </p:nvSpPr>
        <p:spPr>
          <a:xfrm>
            <a:off x="278406" y="3756203"/>
            <a:ext cx="3228974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MX" sz="1500" b="1" dirty="0">
                <a:solidFill>
                  <a:srgbClr val="0058CB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Operaciones y Procesos:</a:t>
            </a:r>
            <a:endParaRPr lang="en-HN" sz="1500" b="1" dirty="0">
              <a:solidFill>
                <a:srgbClr val="0058CB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C2BC4B0-2516-81FD-2068-3E4570A9ADC1}"/>
              </a:ext>
            </a:extLst>
          </p:cNvPr>
          <p:cNvSpPr txBox="1">
            <a:spLocks/>
          </p:cNvSpPr>
          <p:nvPr/>
        </p:nvSpPr>
        <p:spPr>
          <a:xfrm>
            <a:off x="2555264" y="4281884"/>
            <a:ext cx="783145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20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3B7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104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HN" sz="20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8ADBA6B-9094-0048-0915-8123572637E6}"/>
              </a:ext>
            </a:extLst>
          </p:cNvPr>
          <p:cNvSpPr txBox="1">
            <a:spLocks/>
          </p:cNvSpPr>
          <p:nvPr/>
        </p:nvSpPr>
        <p:spPr>
          <a:xfrm>
            <a:off x="278406" y="4241111"/>
            <a:ext cx="3228974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MX" sz="1500" b="1" dirty="0">
                <a:solidFill>
                  <a:srgbClr val="0058CB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Arquitectura Datos e IA:</a:t>
            </a:r>
            <a:endParaRPr lang="en-HN" sz="1500" b="1" dirty="0">
              <a:solidFill>
                <a:srgbClr val="0058CB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95DEF1D2-B5B9-BD94-0B8F-68B85305DDA6}"/>
              </a:ext>
            </a:extLst>
          </p:cNvPr>
          <p:cNvSpPr txBox="1">
            <a:spLocks/>
          </p:cNvSpPr>
          <p:nvPr/>
        </p:nvSpPr>
        <p:spPr>
          <a:xfrm>
            <a:off x="2881179" y="4775422"/>
            <a:ext cx="490135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endParaRPr lang="en-US" sz="20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03B7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16</a:t>
            </a:r>
          </a:p>
          <a:p>
            <a:pPr marL="285750" indent="-28575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HN" sz="20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865ACD1F-8B38-0BFD-555A-337CFBE09F05}"/>
              </a:ext>
            </a:extLst>
          </p:cNvPr>
          <p:cNvSpPr txBox="1">
            <a:spLocks/>
          </p:cNvSpPr>
          <p:nvPr/>
        </p:nvSpPr>
        <p:spPr>
          <a:xfrm>
            <a:off x="278406" y="4726019"/>
            <a:ext cx="3752849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MX" sz="1500" b="1" dirty="0">
                <a:solidFill>
                  <a:srgbClr val="0058CB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Operaciones Ciberseguridad:</a:t>
            </a:r>
            <a:endParaRPr lang="en-HN" sz="1500" b="1" dirty="0">
              <a:solidFill>
                <a:srgbClr val="0058CB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D681345-9E1B-9793-9BF6-E4594374B317}"/>
              </a:ext>
            </a:extLst>
          </p:cNvPr>
          <p:cNvSpPr txBox="1">
            <a:spLocks/>
          </p:cNvSpPr>
          <p:nvPr/>
        </p:nvSpPr>
        <p:spPr>
          <a:xfrm>
            <a:off x="6498064" y="3756203"/>
            <a:ext cx="3752849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MX" sz="1500" b="1" dirty="0">
                <a:solidFill>
                  <a:srgbClr val="0058CB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Modernización y Transformación:</a:t>
            </a:r>
            <a:endParaRPr lang="en-HN" sz="1500" b="1" dirty="0">
              <a:solidFill>
                <a:srgbClr val="0058CB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BEAE863-A9C2-9457-AC4B-1A31F7317680}"/>
              </a:ext>
            </a:extLst>
          </p:cNvPr>
          <p:cNvSpPr/>
          <p:nvPr/>
        </p:nvSpPr>
        <p:spPr>
          <a:xfrm>
            <a:off x="208599" y="1429512"/>
            <a:ext cx="11764326" cy="1760219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solidFill>
              <a:schemeClr val="bg1">
                <a:lumMod val="6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 dirty="0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03966FBF-C5A7-62FF-D6D4-37F646C6869F}"/>
              </a:ext>
            </a:extLst>
          </p:cNvPr>
          <p:cNvSpPr txBox="1">
            <a:spLocks/>
          </p:cNvSpPr>
          <p:nvPr/>
        </p:nvSpPr>
        <p:spPr>
          <a:xfrm>
            <a:off x="9456752" y="3809912"/>
            <a:ext cx="783145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endParaRPr lang="en-US" sz="20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03B7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246</a:t>
            </a:r>
          </a:p>
          <a:p>
            <a:pPr algn="ctr">
              <a:lnSpc>
                <a:spcPct val="100000"/>
              </a:lnSpc>
            </a:pPr>
            <a:endParaRPr lang="en-HN" sz="20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040A84EE-E8DB-49DD-16F7-B7198E998928}"/>
              </a:ext>
            </a:extLst>
          </p:cNvPr>
          <p:cNvSpPr txBox="1">
            <a:spLocks/>
          </p:cNvSpPr>
          <p:nvPr/>
        </p:nvSpPr>
        <p:spPr>
          <a:xfrm>
            <a:off x="6498064" y="4241111"/>
            <a:ext cx="3752849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MX" sz="1500" b="1" dirty="0">
                <a:solidFill>
                  <a:srgbClr val="0058CB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Tecnología Seguros:</a:t>
            </a:r>
            <a:endParaRPr lang="en-HN" sz="1500" b="1" dirty="0">
              <a:solidFill>
                <a:srgbClr val="0058CB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08B7B70-4BE2-5DD7-4D6C-747BE8A66D3D}"/>
              </a:ext>
            </a:extLst>
          </p:cNvPr>
          <p:cNvSpPr txBox="1">
            <a:spLocks/>
          </p:cNvSpPr>
          <p:nvPr/>
        </p:nvSpPr>
        <p:spPr>
          <a:xfrm>
            <a:off x="8196648" y="4281420"/>
            <a:ext cx="783145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endParaRPr lang="en-US" sz="20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03B7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19</a:t>
            </a:r>
          </a:p>
          <a:p>
            <a:pPr algn="ctr">
              <a:lnSpc>
                <a:spcPct val="100000"/>
              </a:lnSpc>
            </a:pPr>
            <a:endParaRPr lang="en-HN" sz="20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DE46B434-9FD5-0100-3CFE-21DEE7A31FC4}"/>
              </a:ext>
            </a:extLst>
          </p:cNvPr>
          <p:cNvSpPr txBox="1">
            <a:spLocks/>
          </p:cNvSpPr>
          <p:nvPr/>
        </p:nvSpPr>
        <p:spPr>
          <a:xfrm>
            <a:off x="6498064" y="4726019"/>
            <a:ext cx="3752849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MX" sz="1500" b="1" dirty="0">
                <a:solidFill>
                  <a:srgbClr val="0058CB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Seguridad Física y Servicios Generales:</a:t>
            </a:r>
            <a:endParaRPr lang="en-HN" sz="1500" b="1" dirty="0">
              <a:solidFill>
                <a:srgbClr val="0058CB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02150509-F2CF-128F-EDFF-4EBF269299AD}"/>
              </a:ext>
            </a:extLst>
          </p:cNvPr>
          <p:cNvSpPr txBox="1">
            <a:spLocks/>
          </p:cNvSpPr>
          <p:nvPr/>
        </p:nvSpPr>
        <p:spPr>
          <a:xfrm>
            <a:off x="9914365" y="4752511"/>
            <a:ext cx="783145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endParaRPr lang="en-US" sz="20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03B7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187</a:t>
            </a:r>
          </a:p>
          <a:p>
            <a:pPr algn="ctr">
              <a:lnSpc>
                <a:spcPct val="100000"/>
              </a:lnSpc>
            </a:pPr>
            <a:endParaRPr lang="en-HN" sz="20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3EA5D1D8-58BD-A892-AB29-F1BA56483754}"/>
              </a:ext>
            </a:extLst>
          </p:cNvPr>
          <p:cNvSpPr txBox="1">
            <a:spLocks/>
          </p:cNvSpPr>
          <p:nvPr/>
        </p:nvSpPr>
        <p:spPr>
          <a:xfrm>
            <a:off x="278406" y="5210928"/>
            <a:ext cx="3947160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MX" sz="1500" b="1" dirty="0">
                <a:solidFill>
                  <a:srgbClr val="0058CB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Vicepresidencia Regional de Tecnología :</a:t>
            </a:r>
            <a:endParaRPr lang="en-HN" sz="1500" b="1" dirty="0">
              <a:solidFill>
                <a:srgbClr val="0058CB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D2E2F4CA-D6DF-1BBF-5674-CDCC0DF58EBC}"/>
              </a:ext>
            </a:extLst>
          </p:cNvPr>
          <p:cNvSpPr txBox="1">
            <a:spLocks/>
          </p:cNvSpPr>
          <p:nvPr/>
        </p:nvSpPr>
        <p:spPr>
          <a:xfrm>
            <a:off x="3854710" y="5246561"/>
            <a:ext cx="783145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endParaRPr lang="en-US" sz="20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03B7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192</a:t>
            </a:r>
          </a:p>
          <a:p>
            <a:pPr algn="ctr">
              <a:lnSpc>
                <a:spcPct val="100000"/>
              </a:lnSpc>
            </a:pPr>
            <a:endParaRPr lang="en-HN" sz="20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B83ED5D1-77BD-66DD-89BC-4F57D4661BEB}"/>
              </a:ext>
            </a:extLst>
          </p:cNvPr>
          <p:cNvSpPr txBox="1"/>
          <p:nvPr/>
        </p:nvSpPr>
        <p:spPr>
          <a:xfrm>
            <a:off x="220326" y="5944643"/>
            <a:ext cx="978092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 dirty="0"/>
              <a:t>**El Costo Total de la Subcontratación incluye los costos de personal tercerizado (BAU) + el costo de consultoría (Proyectos: MVP VASS, Capa de Integración, CRM y otros)</a:t>
            </a:r>
          </a:p>
          <a:p>
            <a:r>
              <a:rPr lang="es-MX" sz="1300" dirty="0"/>
              <a:t>**Los costos totales no contemplan los costos asociados a las áreas de Seguridad Física y servicios generales</a:t>
            </a:r>
          </a:p>
          <a:p>
            <a:r>
              <a:rPr lang="es-MX" sz="1300" dirty="0"/>
              <a:t>**Los datos mostrados son al corte del 16 de Septiembre 2026 detallados en la plataforma de gestión de terceros – Nems</a:t>
            </a:r>
          </a:p>
        </p:txBody>
      </p:sp>
      <p:sp>
        <p:nvSpPr>
          <p:cNvPr id="79" name="Title 1">
            <a:extLst>
              <a:ext uri="{FF2B5EF4-FFF2-40B4-BE49-F238E27FC236}">
                <a16:creationId xmlns:a16="http://schemas.microsoft.com/office/drawing/2014/main" id="{9F662655-C513-28B2-FA0E-CCA31D686168}"/>
              </a:ext>
            </a:extLst>
          </p:cNvPr>
          <p:cNvSpPr txBox="1">
            <a:spLocks/>
          </p:cNvSpPr>
          <p:nvPr/>
        </p:nvSpPr>
        <p:spPr>
          <a:xfrm>
            <a:off x="2428190" y="2632285"/>
            <a:ext cx="4656079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MX" sz="2000" b="1" dirty="0">
                <a:solidFill>
                  <a:srgbClr val="0058CB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Costo Total de la Subcontratación:</a:t>
            </a:r>
            <a:endParaRPr lang="en-HN" sz="2000" b="1" dirty="0">
              <a:solidFill>
                <a:srgbClr val="0058CB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3F1F6D4D-EF7F-63F6-62F5-78EAA494F6B8}"/>
              </a:ext>
            </a:extLst>
          </p:cNvPr>
          <p:cNvSpPr txBox="1">
            <a:spLocks/>
          </p:cNvSpPr>
          <p:nvPr/>
        </p:nvSpPr>
        <p:spPr>
          <a:xfrm>
            <a:off x="6631047" y="2684716"/>
            <a:ext cx="2250040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2400" b="1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3B7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$3,631,608.6</a:t>
            </a:r>
          </a:p>
          <a:p>
            <a:pPr>
              <a:lnSpc>
                <a:spcPct val="100000"/>
              </a:lnSpc>
            </a:pPr>
            <a:endParaRPr lang="en-HN" sz="2400" b="1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82" name="Title 1">
            <a:extLst>
              <a:ext uri="{FF2B5EF4-FFF2-40B4-BE49-F238E27FC236}">
                <a16:creationId xmlns:a16="http://schemas.microsoft.com/office/drawing/2014/main" id="{E66081E4-6832-6E8E-ADDC-D7A2B19C5F7C}"/>
              </a:ext>
            </a:extLst>
          </p:cNvPr>
          <p:cNvSpPr txBox="1">
            <a:spLocks/>
          </p:cNvSpPr>
          <p:nvPr/>
        </p:nvSpPr>
        <p:spPr>
          <a:xfrm>
            <a:off x="130411" y="3281386"/>
            <a:ext cx="6259371" cy="7255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MX" sz="2000" b="1" u="sng" dirty="0">
                <a:solidFill>
                  <a:srgbClr val="003B70"/>
                </a:solidFill>
                <a:latin typeface="Open Sans Medium" pitchFamily="2" charset="0"/>
              </a:rPr>
              <a:t>Detalle Personal Tercerizado por área</a:t>
            </a:r>
            <a:endParaRPr lang="en-HN" sz="2000" b="1" u="sng" dirty="0">
              <a:solidFill>
                <a:srgbClr val="003B70"/>
              </a:solidFill>
              <a:latin typeface="Open Sans Medium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3E45279-310E-FE7E-0B40-2A0703CA5733}"/>
              </a:ext>
            </a:extLst>
          </p:cNvPr>
          <p:cNvSpPr txBox="1">
            <a:spLocks/>
          </p:cNvSpPr>
          <p:nvPr/>
        </p:nvSpPr>
        <p:spPr>
          <a:xfrm>
            <a:off x="4505135" y="1963816"/>
            <a:ext cx="783145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24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3B7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193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HN" sz="24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A940CB-9F6A-DB1B-E3A4-97B5CB5A16E2}"/>
              </a:ext>
            </a:extLst>
          </p:cNvPr>
          <p:cNvSpPr txBox="1">
            <a:spLocks/>
          </p:cNvSpPr>
          <p:nvPr/>
        </p:nvSpPr>
        <p:spPr>
          <a:xfrm>
            <a:off x="401956" y="1921069"/>
            <a:ext cx="4231364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MX" sz="2000" b="1" dirty="0">
                <a:solidFill>
                  <a:srgbClr val="0058CB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Total Personal Consultoría VRTO:</a:t>
            </a:r>
            <a:endParaRPr lang="en-HN" sz="2000" b="1" dirty="0">
              <a:solidFill>
                <a:srgbClr val="0058CB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1A9A3EE-A4CE-569C-A938-49B6FC2DC180}"/>
              </a:ext>
            </a:extLst>
          </p:cNvPr>
          <p:cNvSpPr txBox="1">
            <a:spLocks/>
          </p:cNvSpPr>
          <p:nvPr/>
        </p:nvSpPr>
        <p:spPr>
          <a:xfrm>
            <a:off x="9801035" y="2032336"/>
            <a:ext cx="2152840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24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3B7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$1,442,954.38</a:t>
            </a:r>
          </a:p>
          <a:p>
            <a:pPr>
              <a:lnSpc>
                <a:spcPct val="100000"/>
              </a:lnSpc>
            </a:pPr>
            <a:endParaRPr lang="en-HN" sz="2400" dirty="0">
              <a:solidFill>
                <a:srgbClr val="003B7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5CE8861-4B32-D772-8330-230F33A07114}"/>
              </a:ext>
            </a:extLst>
          </p:cNvPr>
          <p:cNvSpPr txBox="1">
            <a:spLocks/>
          </p:cNvSpPr>
          <p:nvPr/>
        </p:nvSpPr>
        <p:spPr>
          <a:xfrm>
            <a:off x="5664162" y="1978159"/>
            <a:ext cx="4231364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MX" sz="2000" b="1" dirty="0">
                <a:solidFill>
                  <a:srgbClr val="0058CB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Costo Total Consultoría:</a:t>
            </a:r>
            <a:endParaRPr lang="en-HN" sz="2000" b="1" dirty="0">
              <a:solidFill>
                <a:srgbClr val="0058CB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064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AC5FB3-D0AF-DBB6-4738-53B9D7671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8B331F-875A-1C1C-FAF2-8035ACCA12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4338" y="414338"/>
            <a:ext cx="11344275" cy="1000125"/>
          </a:xfrm>
          <a:prstGeom prst="rect">
            <a:avLst/>
          </a:prstGeom>
          <a:solidFill>
            <a:srgbClr val="0058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H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EF991C3-7CEA-05A0-1299-C3136C8BB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459" y="405372"/>
            <a:ext cx="8853891" cy="1018056"/>
          </a:xfrm>
        </p:spPr>
        <p:txBody>
          <a:bodyPr>
            <a:noAutofit/>
          </a:bodyPr>
          <a:lstStyle/>
          <a:p>
            <a:r>
              <a:rPr lang="es-MX" sz="2800" b="1" dirty="0">
                <a:solidFill>
                  <a:schemeClr val="bg1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Personal Outsourcing VRTO – NEMS</a:t>
            </a:r>
            <a:endParaRPr lang="en-HN" sz="2800" b="1" dirty="0">
              <a:solidFill>
                <a:schemeClr val="bg1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9E214A-C68C-440E-3A3B-A5E025E9C8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46215" y="6181724"/>
            <a:ext cx="1612397" cy="36671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68459E0-A70B-AE80-20A5-3BE1EE978489}"/>
              </a:ext>
            </a:extLst>
          </p:cNvPr>
          <p:cNvSpPr txBox="1">
            <a:spLocks/>
          </p:cNvSpPr>
          <p:nvPr/>
        </p:nvSpPr>
        <p:spPr>
          <a:xfrm>
            <a:off x="4538070" y="1478276"/>
            <a:ext cx="783145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B70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633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16900E1-B12B-9B38-2B85-35CBF4FCE0A5}"/>
              </a:ext>
            </a:extLst>
          </p:cNvPr>
          <p:cNvSpPr txBox="1">
            <a:spLocks/>
          </p:cNvSpPr>
          <p:nvPr/>
        </p:nvSpPr>
        <p:spPr>
          <a:xfrm>
            <a:off x="392431" y="1425709"/>
            <a:ext cx="4231364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0058CB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Total Personal Tercerizado VRTO:</a:t>
            </a:r>
            <a:endParaRPr kumimoji="0" lang="en-HN" sz="2000" b="1" i="0" u="none" strike="noStrike" kern="1200" cap="none" spc="0" normalizeH="0" baseline="0" noProof="0" dirty="0">
              <a:ln>
                <a:noFill/>
              </a:ln>
              <a:solidFill>
                <a:srgbClr val="0058CB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33C061D-7122-EC2D-9C1D-6DEB4175C845}"/>
              </a:ext>
            </a:extLst>
          </p:cNvPr>
          <p:cNvSpPr txBox="1">
            <a:spLocks/>
          </p:cNvSpPr>
          <p:nvPr/>
        </p:nvSpPr>
        <p:spPr>
          <a:xfrm>
            <a:off x="9781985" y="1479886"/>
            <a:ext cx="2152840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B70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$2,188,654.22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HN" sz="24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E90CDB9-C4DF-4B7E-25CE-CF1B0828891E}"/>
              </a:ext>
            </a:extLst>
          </p:cNvPr>
          <p:cNvSpPr txBox="1">
            <a:spLocks/>
          </p:cNvSpPr>
          <p:nvPr/>
        </p:nvSpPr>
        <p:spPr>
          <a:xfrm>
            <a:off x="5664162" y="1425709"/>
            <a:ext cx="4231364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0058CB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Costo Total Personal Tercerizado:</a:t>
            </a:r>
            <a:endParaRPr kumimoji="0" lang="en-HN" sz="2000" b="1" i="0" u="none" strike="noStrike" kern="1200" cap="none" spc="0" normalizeH="0" baseline="0" noProof="0" dirty="0">
              <a:ln>
                <a:noFill/>
              </a:ln>
              <a:solidFill>
                <a:srgbClr val="0058CB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65E70E2-535F-44EE-EAB1-5B322D0ED93C}"/>
              </a:ext>
            </a:extLst>
          </p:cNvPr>
          <p:cNvSpPr txBox="1">
            <a:spLocks/>
          </p:cNvSpPr>
          <p:nvPr/>
        </p:nvSpPr>
        <p:spPr>
          <a:xfrm>
            <a:off x="2369906" y="3810380"/>
            <a:ext cx="783145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B70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62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HN" sz="20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A374E74-218F-64E5-5A54-60CD16DECC66}"/>
              </a:ext>
            </a:extLst>
          </p:cNvPr>
          <p:cNvSpPr txBox="1">
            <a:spLocks/>
          </p:cNvSpPr>
          <p:nvPr/>
        </p:nvSpPr>
        <p:spPr>
          <a:xfrm>
            <a:off x="278406" y="3756203"/>
            <a:ext cx="3228974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500" b="1" i="0" u="none" strike="noStrike" kern="1200" cap="none" spc="0" normalizeH="0" baseline="0" noProof="0" dirty="0">
                <a:ln>
                  <a:noFill/>
                </a:ln>
                <a:solidFill>
                  <a:srgbClr val="0058CB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Operaciones y Procesos:</a:t>
            </a:r>
            <a:endParaRPr kumimoji="0" lang="en-HN" sz="1500" b="1" i="0" u="none" strike="noStrike" kern="1200" cap="none" spc="0" normalizeH="0" baseline="0" noProof="0" dirty="0">
              <a:ln>
                <a:noFill/>
              </a:ln>
              <a:solidFill>
                <a:srgbClr val="0058CB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BFEBA9A-04D5-33A9-FBFA-C2C9E6462DCA}"/>
              </a:ext>
            </a:extLst>
          </p:cNvPr>
          <p:cNvSpPr txBox="1">
            <a:spLocks/>
          </p:cNvSpPr>
          <p:nvPr/>
        </p:nvSpPr>
        <p:spPr>
          <a:xfrm>
            <a:off x="2555264" y="4281884"/>
            <a:ext cx="783145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B70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104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HN" sz="20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446F313-CA7B-D0DB-3E1E-562CE49C31F5}"/>
              </a:ext>
            </a:extLst>
          </p:cNvPr>
          <p:cNvSpPr txBox="1">
            <a:spLocks/>
          </p:cNvSpPr>
          <p:nvPr/>
        </p:nvSpPr>
        <p:spPr>
          <a:xfrm>
            <a:off x="278406" y="4241111"/>
            <a:ext cx="3228974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500" b="1" i="0" u="none" strike="noStrike" kern="1200" cap="none" spc="0" normalizeH="0" baseline="0" noProof="0" dirty="0">
                <a:ln>
                  <a:noFill/>
                </a:ln>
                <a:solidFill>
                  <a:srgbClr val="0058CB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Arquitectura Datos e IA:</a:t>
            </a:r>
            <a:endParaRPr kumimoji="0" lang="en-HN" sz="1500" b="1" i="0" u="none" strike="noStrike" kern="1200" cap="none" spc="0" normalizeH="0" baseline="0" noProof="0" dirty="0">
              <a:ln>
                <a:noFill/>
              </a:ln>
              <a:solidFill>
                <a:srgbClr val="0058CB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4770643E-D6C1-0C52-9D30-C773BAABC71D}"/>
              </a:ext>
            </a:extLst>
          </p:cNvPr>
          <p:cNvSpPr txBox="1">
            <a:spLocks/>
          </p:cNvSpPr>
          <p:nvPr/>
        </p:nvSpPr>
        <p:spPr>
          <a:xfrm>
            <a:off x="2881179" y="4775422"/>
            <a:ext cx="490135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B70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16</a:t>
            </a:r>
          </a:p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HN" sz="20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5898A58-1E48-5023-0CF3-DFB8D21AB7A0}"/>
              </a:ext>
            </a:extLst>
          </p:cNvPr>
          <p:cNvSpPr txBox="1">
            <a:spLocks/>
          </p:cNvSpPr>
          <p:nvPr/>
        </p:nvSpPr>
        <p:spPr>
          <a:xfrm>
            <a:off x="278406" y="4726019"/>
            <a:ext cx="3752849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500" b="1" i="0" u="none" strike="noStrike" kern="1200" cap="none" spc="0" normalizeH="0" baseline="0" noProof="0" dirty="0">
                <a:ln>
                  <a:noFill/>
                </a:ln>
                <a:solidFill>
                  <a:srgbClr val="0058CB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Operaciones Ciberseguridad:</a:t>
            </a:r>
            <a:endParaRPr kumimoji="0" lang="en-HN" sz="1500" b="1" i="0" u="none" strike="noStrike" kern="1200" cap="none" spc="0" normalizeH="0" baseline="0" noProof="0" dirty="0">
              <a:ln>
                <a:noFill/>
              </a:ln>
              <a:solidFill>
                <a:srgbClr val="0058CB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57779953-07C8-20D3-D945-4C8654BE73EA}"/>
              </a:ext>
            </a:extLst>
          </p:cNvPr>
          <p:cNvSpPr txBox="1">
            <a:spLocks/>
          </p:cNvSpPr>
          <p:nvPr/>
        </p:nvSpPr>
        <p:spPr>
          <a:xfrm>
            <a:off x="6498064" y="3756203"/>
            <a:ext cx="3752849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500" b="1" i="0" u="none" strike="noStrike" kern="1200" cap="none" spc="0" normalizeH="0" baseline="0" noProof="0" dirty="0">
                <a:ln>
                  <a:noFill/>
                </a:ln>
                <a:solidFill>
                  <a:srgbClr val="0058CB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Modernización y Transformación:</a:t>
            </a:r>
            <a:endParaRPr kumimoji="0" lang="en-HN" sz="1500" b="1" i="0" u="none" strike="noStrike" kern="1200" cap="none" spc="0" normalizeH="0" baseline="0" noProof="0" dirty="0">
              <a:ln>
                <a:noFill/>
              </a:ln>
              <a:solidFill>
                <a:srgbClr val="0058CB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FA02A889-33E7-1C97-EA51-43B638281FF6}"/>
              </a:ext>
            </a:extLst>
          </p:cNvPr>
          <p:cNvSpPr/>
          <p:nvPr/>
        </p:nvSpPr>
        <p:spPr>
          <a:xfrm>
            <a:off x="208599" y="1429512"/>
            <a:ext cx="11764326" cy="1760219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solidFill>
              <a:schemeClr val="bg1">
                <a:lumMod val="6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H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94CBD34C-B940-3AB3-9F49-5C57E4F90DF3}"/>
              </a:ext>
            </a:extLst>
          </p:cNvPr>
          <p:cNvSpPr txBox="1">
            <a:spLocks/>
          </p:cNvSpPr>
          <p:nvPr/>
        </p:nvSpPr>
        <p:spPr>
          <a:xfrm>
            <a:off x="9456752" y="3809912"/>
            <a:ext cx="783145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B70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246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HN" sz="20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EB4A5B29-6851-1834-178E-0728C98BCC50}"/>
              </a:ext>
            </a:extLst>
          </p:cNvPr>
          <p:cNvSpPr txBox="1">
            <a:spLocks/>
          </p:cNvSpPr>
          <p:nvPr/>
        </p:nvSpPr>
        <p:spPr>
          <a:xfrm>
            <a:off x="6498064" y="4241111"/>
            <a:ext cx="3752849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500" b="1" i="0" u="none" strike="noStrike" kern="1200" cap="none" spc="0" normalizeH="0" baseline="0" noProof="0" dirty="0">
                <a:ln>
                  <a:noFill/>
                </a:ln>
                <a:solidFill>
                  <a:srgbClr val="0058CB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Tecnología Seguros:</a:t>
            </a:r>
            <a:endParaRPr kumimoji="0" lang="en-HN" sz="1500" b="1" i="0" u="none" strike="noStrike" kern="1200" cap="none" spc="0" normalizeH="0" baseline="0" noProof="0" dirty="0">
              <a:ln>
                <a:noFill/>
              </a:ln>
              <a:solidFill>
                <a:srgbClr val="0058CB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FAD8621A-A0A5-A1E2-8C2B-BBA23B81604D}"/>
              </a:ext>
            </a:extLst>
          </p:cNvPr>
          <p:cNvSpPr txBox="1">
            <a:spLocks/>
          </p:cNvSpPr>
          <p:nvPr/>
        </p:nvSpPr>
        <p:spPr>
          <a:xfrm>
            <a:off x="8196648" y="4281420"/>
            <a:ext cx="783145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B70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HN" sz="20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930B42C9-67C8-A96D-D035-AA705C2BFDDA}"/>
              </a:ext>
            </a:extLst>
          </p:cNvPr>
          <p:cNvSpPr txBox="1">
            <a:spLocks/>
          </p:cNvSpPr>
          <p:nvPr/>
        </p:nvSpPr>
        <p:spPr>
          <a:xfrm>
            <a:off x="6498064" y="4726019"/>
            <a:ext cx="3752849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500" b="1" i="0" u="none" strike="noStrike" kern="1200" cap="none" spc="0" normalizeH="0" baseline="0" noProof="0" dirty="0">
                <a:ln>
                  <a:noFill/>
                </a:ln>
                <a:solidFill>
                  <a:srgbClr val="0058CB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Seguridad Física y Servicios Generales:</a:t>
            </a:r>
            <a:endParaRPr kumimoji="0" lang="en-HN" sz="1500" b="1" i="0" u="none" strike="noStrike" kern="1200" cap="none" spc="0" normalizeH="0" baseline="0" noProof="0" dirty="0">
              <a:ln>
                <a:noFill/>
              </a:ln>
              <a:solidFill>
                <a:srgbClr val="0058CB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3B4D75B2-23B6-C402-2A13-F24D7B2E8DD6}"/>
              </a:ext>
            </a:extLst>
          </p:cNvPr>
          <p:cNvSpPr txBox="1">
            <a:spLocks/>
          </p:cNvSpPr>
          <p:nvPr/>
        </p:nvSpPr>
        <p:spPr>
          <a:xfrm>
            <a:off x="9914365" y="4752511"/>
            <a:ext cx="783145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B70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187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HN" sz="20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30A6ECDA-507B-AD70-6EA2-47100AFEF435}"/>
              </a:ext>
            </a:extLst>
          </p:cNvPr>
          <p:cNvSpPr txBox="1">
            <a:spLocks/>
          </p:cNvSpPr>
          <p:nvPr/>
        </p:nvSpPr>
        <p:spPr>
          <a:xfrm>
            <a:off x="278406" y="5210928"/>
            <a:ext cx="3947160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500" b="1" i="0" u="none" strike="noStrike" kern="1200" cap="none" spc="0" normalizeH="0" baseline="0" noProof="0" dirty="0">
                <a:ln>
                  <a:noFill/>
                </a:ln>
                <a:solidFill>
                  <a:srgbClr val="0058CB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Vicepresidencia Regional de Tecnología :</a:t>
            </a:r>
            <a:endParaRPr kumimoji="0" lang="en-HN" sz="1500" b="1" i="0" u="none" strike="noStrike" kern="1200" cap="none" spc="0" normalizeH="0" baseline="0" noProof="0" dirty="0">
              <a:ln>
                <a:noFill/>
              </a:ln>
              <a:solidFill>
                <a:srgbClr val="0058CB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B66BAC00-FDC7-4505-A04A-493609532C46}"/>
              </a:ext>
            </a:extLst>
          </p:cNvPr>
          <p:cNvSpPr txBox="1">
            <a:spLocks/>
          </p:cNvSpPr>
          <p:nvPr/>
        </p:nvSpPr>
        <p:spPr>
          <a:xfrm>
            <a:off x="3854710" y="5246561"/>
            <a:ext cx="783145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B70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192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HN" sz="20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6D84113D-D860-C028-089B-F6D22AAD202B}"/>
              </a:ext>
            </a:extLst>
          </p:cNvPr>
          <p:cNvSpPr txBox="1"/>
          <p:nvPr/>
        </p:nvSpPr>
        <p:spPr>
          <a:xfrm>
            <a:off x="220326" y="5944643"/>
            <a:ext cx="978092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**El Costo Total de la Subcontratación incluye los costos de personal tercerizado (BAU) + el costo de consultoría (Proyectos: MVP VASS, Capa de Integración, CRM y otros)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**Los costos totales no contemplan los costos asociados a las áreas de Seguridad Física y servicios generales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**Los datos mostrados son al corte del 16 de Septiembre 2026 detallados en la plataforma de gestión de terceros – Nems</a:t>
            </a:r>
          </a:p>
        </p:txBody>
      </p:sp>
      <p:sp>
        <p:nvSpPr>
          <p:cNvPr id="79" name="Title 1">
            <a:extLst>
              <a:ext uri="{FF2B5EF4-FFF2-40B4-BE49-F238E27FC236}">
                <a16:creationId xmlns:a16="http://schemas.microsoft.com/office/drawing/2014/main" id="{B8C9CA37-A3A8-7D0C-36FB-F902F277146E}"/>
              </a:ext>
            </a:extLst>
          </p:cNvPr>
          <p:cNvSpPr txBox="1">
            <a:spLocks/>
          </p:cNvSpPr>
          <p:nvPr/>
        </p:nvSpPr>
        <p:spPr>
          <a:xfrm>
            <a:off x="2428190" y="2632285"/>
            <a:ext cx="4656079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0058CB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Costo Total de la Subcontratación:</a:t>
            </a:r>
            <a:endParaRPr kumimoji="0" lang="en-HN" sz="2000" b="1" i="0" u="none" strike="noStrike" kern="1200" cap="none" spc="0" normalizeH="0" baseline="0" noProof="0" dirty="0">
              <a:ln>
                <a:noFill/>
              </a:ln>
              <a:solidFill>
                <a:srgbClr val="0058CB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CB52BE79-0DEB-246A-5F7D-4AA95C8BA374}"/>
              </a:ext>
            </a:extLst>
          </p:cNvPr>
          <p:cNvSpPr txBox="1">
            <a:spLocks/>
          </p:cNvSpPr>
          <p:nvPr/>
        </p:nvSpPr>
        <p:spPr>
          <a:xfrm>
            <a:off x="6631047" y="2684716"/>
            <a:ext cx="2250040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B70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$3,631,608.6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HN" sz="2400" b="1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82" name="Title 1">
            <a:extLst>
              <a:ext uri="{FF2B5EF4-FFF2-40B4-BE49-F238E27FC236}">
                <a16:creationId xmlns:a16="http://schemas.microsoft.com/office/drawing/2014/main" id="{EE31CE43-4268-BA91-5CAF-069B83F4F815}"/>
              </a:ext>
            </a:extLst>
          </p:cNvPr>
          <p:cNvSpPr txBox="1">
            <a:spLocks/>
          </p:cNvSpPr>
          <p:nvPr/>
        </p:nvSpPr>
        <p:spPr>
          <a:xfrm>
            <a:off x="130411" y="3281386"/>
            <a:ext cx="6259371" cy="7255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sng" strike="noStrike" kern="1200" cap="none" spc="0" normalizeH="0" baseline="0" noProof="0" dirty="0">
                <a:ln>
                  <a:noFill/>
                </a:ln>
                <a:solidFill>
                  <a:srgbClr val="003B70"/>
                </a:solidFill>
                <a:effectLst/>
                <a:uLnTx/>
                <a:uFillTx/>
                <a:latin typeface="Open Sans Medium" pitchFamily="2" charset="0"/>
                <a:ea typeface="+mj-ea"/>
                <a:cs typeface="+mj-cs"/>
              </a:rPr>
              <a:t>Detalle Personal Tercerizado por área</a:t>
            </a:r>
            <a:endParaRPr kumimoji="0" lang="en-HN" sz="2000" b="1" i="0" u="sng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+mj-ea"/>
              <a:cs typeface="+mj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16DD6B9-0AD0-8AEA-529D-E00104741DC8}"/>
              </a:ext>
            </a:extLst>
          </p:cNvPr>
          <p:cNvSpPr txBox="1">
            <a:spLocks/>
          </p:cNvSpPr>
          <p:nvPr/>
        </p:nvSpPr>
        <p:spPr>
          <a:xfrm>
            <a:off x="4505135" y="1963816"/>
            <a:ext cx="783145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B70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193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HN" sz="24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6E363AE-9356-9505-B12A-98AFB1BD438D}"/>
              </a:ext>
            </a:extLst>
          </p:cNvPr>
          <p:cNvSpPr txBox="1">
            <a:spLocks/>
          </p:cNvSpPr>
          <p:nvPr/>
        </p:nvSpPr>
        <p:spPr>
          <a:xfrm>
            <a:off x="401956" y="1921069"/>
            <a:ext cx="4231364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0058CB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Total Personal Consultoría VRTO:</a:t>
            </a:r>
            <a:endParaRPr kumimoji="0" lang="en-HN" sz="2000" b="1" i="0" u="none" strike="noStrike" kern="1200" cap="none" spc="0" normalizeH="0" baseline="0" noProof="0" dirty="0">
              <a:ln>
                <a:noFill/>
              </a:ln>
              <a:solidFill>
                <a:srgbClr val="0058CB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FE3ECF8-26E4-2452-82DE-4A2E7863C58B}"/>
              </a:ext>
            </a:extLst>
          </p:cNvPr>
          <p:cNvSpPr txBox="1">
            <a:spLocks/>
          </p:cNvSpPr>
          <p:nvPr/>
        </p:nvSpPr>
        <p:spPr>
          <a:xfrm>
            <a:off x="9801035" y="2032336"/>
            <a:ext cx="2152840" cy="50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B70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$1,442,954.38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HN" sz="2400" b="0" i="0" u="none" strike="noStrike" kern="1200" cap="none" spc="0" normalizeH="0" baseline="0" noProof="0" dirty="0">
              <a:ln>
                <a:noFill/>
              </a:ln>
              <a:solidFill>
                <a:srgbClr val="003B70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24A180B-5F1B-F203-21A1-F9C290E10305}"/>
              </a:ext>
            </a:extLst>
          </p:cNvPr>
          <p:cNvSpPr txBox="1">
            <a:spLocks/>
          </p:cNvSpPr>
          <p:nvPr/>
        </p:nvSpPr>
        <p:spPr>
          <a:xfrm>
            <a:off x="5664162" y="1978159"/>
            <a:ext cx="4231364" cy="625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0058CB"/>
                </a:solidFill>
                <a:effectLst/>
                <a:uLnTx/>
                <a:uFillTx/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Costo Total Consultoría:</a:t>
            </a:r>
            <a:endParaRPr kumimoji="0" lang="en-HN" sz="2000" b="1" i="0" u="none" strike="noStrike" kern="1200" cap="none" spc="0" normalizeH="0" baseline="0" noProof="0" dirty="0">
              <a:ln>
                <a:noFill/>
              </a:ln>
              <a:solidFill>
                <a:srgbClr val="0058CB"/>
              </a:solidFill>
              <a:effectLst/>
              <a:uLnTx/>
              <a:uFillTx/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655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8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7BE7AD8-E2FC-7ED1-D984-15D5B7441A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185" y="2839202"/>
            <a:ext cx="5224590" cy="117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9443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63783</TotalTime>
  <Words>325</Words>
  <Application>Microsoft Office PowerPoint</Application>
  <PresentationFormat>Panorámica</PresentationFormat>
  <Paragraphs>85</Paragraphs>
  <Slides>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Open Sans Medium</vt:lpstr>
      <vt:lpstr>Tema de Office</vt:lpstr>
      <vt:lpstr>Personal Outsourcing VRTO- NEMS (TH) </vt:lpstr>
      <vt:lpstr>Personal Outsourcing VRTO – NEMS (TH)</vt:lpstr>
      <vt:lpstr>Personal Outsourcing VRTO – NEMS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Katia Rosibel Palacios Urbina</dc:creator>
  <cp:keywords>Interna</cp:keywords>
  <dc:description/>
  <cp:lastModifiedBy>Darrel Caceres Rosales</cp:lastModifiedBy>
  <cp:revision>380</cp:revision>
  <dcterms:created xsi:type="dcterms:W3CDTF">2025-11-26T22:01:47Z</dcterms:created>
  <dcterms:modified xsi:type="dcterms:W3CDTF">2026-09-17T20:41:13Z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riptosClassAi">
    <vt:lpwstr>2-Confidencial</vt:lpwstr>
  </property>
</Properties>
</file>